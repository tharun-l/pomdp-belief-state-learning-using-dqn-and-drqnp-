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11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Deep Recurrent Q-Network for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Memory-Based Navigation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A Comparative Study of DQN vs DRQN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in Two-Goal POMDP Environments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Done by: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L THARUN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23BCE8698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Faculty Adviser: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Dr. D. John Pradeep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Outline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Background and motivation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Challenges in POMDP navigation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DRQN architecture and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468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Formulas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Mathematical foundations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Results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Performance comparison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778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Literature Review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Related work and context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800100"/>
            <a:ext cx="5029200" cy="571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Reinforcement Learning in Partially Observable Environments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Many real-world tasks require agents to make decisions under uncertainty, where the full state of the environment is not directly observable. These </a:t>
            </a:r>
            <a:r>
              <a:rPr lang="en-US" sz="1300" b="1" dirty="0">
                <a:solidFill>
                  <a:srgbClr val="028090"/>
                </a:solidFill>
              </a:rPr>
              <a:t>Partially Observable Markov Decision Processes (POMDPs)</a:t>
            </a:r>
            <a:r>
              <a:rPr lang="en-US" sz="1300" dirty="0">
                <a:solidFill>
                  <a:srgbClr val="2C3E50"/>
                </a:solidFill>
              </a:rPr>
              <a:t> pose unique challenges for traditional reinforcement learning methods.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0292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Key Challenges: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 Hidden state information requires memory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 Observation aliasing creates ambiguity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 Memoryless policies are provably suboptimal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•  Credit assignment across time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Research Motivation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Traditional DQN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Limited to immediate observations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
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2C39A"/>
                </a:solidFill>
              </a:rPr>
              <a:t>DRQN (This Work)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Maintains belief state through LSTM memory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Problem Statement &amp; Proposed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91194" y="1007884"/>
            <a:ext cx="4114800" cy="1971486"/>
          </a:xfrm>
          <a:prstGeom prst="rect">
            <a:avLst/>
          </a:prstGeom>
          <a:solidFill>
            <a:srgbClr val="FFF4E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Two-Goal Memory Task: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Agent receives a one-time hint at step 0 (±1) indicating which of two goals is correct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After step 0, hint becomes 0 — all observations identical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DQN cannot distinguish between goal types after hint disappears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DC2626"/>
                </a:solidFill>
              </a:rPr>
              <a:t>• Theoretical ceiling: ~50% success rate (random goal selection)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6075" y="1028700"/>
            <a:ext cx="3886200" cy="1996617"/>
          </a:xfrm>
          <a:prstGeom prst="rect">
            <a:avLst/>
          </a:prstGeom>
          <a:solidFill>
            <a:srgbClr val="ECFD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3569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</a:rPr>
              <a:t> Solution: DRQN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Recurrent Architecture: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LSTM maintains hidden state h_t across time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Encodes hint at step 0 into memory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Carries goal identity forward through episode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• Auxiliary hint-prediction head strengthens gradient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59669"/>
                </a:solidFill>
              </a:rPr>
              <a:t>• Achieves 92.5% success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Environment Configuration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Grid Size: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11 × 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Obstacles: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15 random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Goals: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goal_A=(1,9), goal_B=(9,1)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Observation: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3×3 FOV + hint + dual compass (14D)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Reward: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+10 correct, -10 wrong, -0.05/step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Episode Length: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150 steps max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Methodology: DRQN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Network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Input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14D observation (FOV + hint + compass)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0" cy="914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00" cy="502920"/>
          </a:xfrm>
          <a:prstGeom prst="rect">
            <a:avLst/>
          </a:prstGeom>
          <a:solidFill>
            <a:srgbClr val="BAE6FD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Encoder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Linear(14 → 256) + ReLU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0" cy="914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00" cy="502920"/>
          </a:xfrm>
          <a:prstGeom prst="rect">
            <a:avLst/>
          </a:prstGeom>
          <a:solidFill>
            <a:srgbClr val="7DD3F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LSTM 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LSTM(256 → 256) - maintains h_t, c_t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154680"/>
            <a:ext cx="0" cy="914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5486400" cy="502920"/>
          </a:xfrm>
          <a:prstGeom prst="rect">
            <a:avLst/>
          </a:prstGeom>
          <a:solidFill>
            <a:srgbClr val="38BD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19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Q-Value Head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53872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Linear(256 → 4 actions)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0" cy="914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0EA5E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136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Hint Head (Auxiliary)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1330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Linear(256 → 1) + Sigmoid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914400"/>
            <a:ext cx="2514600" cy="3429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097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 Key Idea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50876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C3E50"/>
                </a:solidFill>
              </a:rPr>
              <a:t>Auxiliary Hint Head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• Creates direct gradient path from step-0 hint to encoder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• Without it: 10-step TBPTT gradient is too weak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• With it: 1-step gradient teaches encoder to make hint salient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• Standard in R2D2, Dreamer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Training Configuration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Episodes: 3000 | Batch: 32 | Sequence Length: 20 | Burn-in: 10 | Hidden: 256 | LR: 10⁻³ | γ: 0.99 | ε: 1.0→0.05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Mathematical Foundations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Bellman Equation (Q-Learning)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Q(s, a) ← Q(s, a) + α [r + γ max_a' Q(s', a') - Q(s, a)]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DQN Loss (Temporal Difference)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E[(r + γ max_a' Q_target(s', a') - Q(s, a))²]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DRQN Forward Pass (with hidden state)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</a:t>
            </a:r>
            <a:r>
              <a:rPr lang="en-US" sz="1200" dirty="0">
                <a:solidFill>
                  <a:srgbClr val="2C3E50"/>
                </a:solidFill>
              </a:rPr>
              <a:t> = ReLU(W_encoder · o_t)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h_t, c_t</a:t>
            </a:r>
            <a:r>
              <a:rPr lang="en-US" sz="1200" dirty="0">
                <a:solidFill>
                  <a:srgbClr val="2C3E50"/>
                </a:solidFill>
              </a:rPr>
              <a:t> = LSTM(x_t, h_t-1, c_t-1)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Q(o_t, a | h_t)</a:t>
            </a:r>
            <a:r>
              <a:rPr lang="en-US" sz="1200" dirty="0">
                <a:solidFill>
                  <a:srgbClr val="2C3E50"/>
                </a:solidFill>
              </a:rPr>
              <a:t> = W_head · h_t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764826"/>
          </a:xfrm>
          <a:prstGeom prst="rect">
            <a:avLst/>
          </a:prstGeom>
          <a:solidFill>
            <a:srgbClr val="ECFD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Auxiliary Hint Prediction Loss (step 0 only)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L_hint = BCE(σ(W_hint · h_0), hint_label)    where hint ∈ {0,1} encodes goal_A vs goal_B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Results: Training Performance</a:t>
            </a:r>
            <a:endParaRPr lang="en-US" sz="3600" dirty="0"/>
          </a:p>
        </p:txBody>
      </p:sp>
      <p:pic>
        <p:nvPicPr>
          <p:cNvPr id="4" name="Image 0" descr="/mnt/user-data/uploads/1_reward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</a:rPr>
              <a:t>Key Finding: DRQN converges to ~+6 reward | DQN stuck near 0 (theoretical ceiling) | Gap proves memory is essential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Results: Performance Metrics</a:t>
            </a:r>
            <a:endParaRPr lang="en-US" sz="3600" dirty="0"/>
          </a:p>
        </p:txBody>
      </p:sp>
      <p:pic>
        <p:nvPicPr>
          <p:cNvPr id="4" name="Image 0" descr="/mnt/user-data/uploads/2_performance_bar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CFD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DRQN achieves 92.5% success vs DQN's 41% (ceiling: 50%) — 2.25× improvement validates LSTM memory for goal-disambiguation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Results: Belief State Analysis (PCA)</a:t>
            </a:r>
            <a:endParaRPr lang="en-US" sz="3600" dirty="0"/>
          </a:p>
        </p:txBody>
      </p:sp>
      <p:pic>
        <p:nvPicPr>
          <p:cNvPr id="4" name="Image 0" descr="/mnt/user-data/uploads/3_hidden_state_pc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Interpretation: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Clean separation of goal_A vs goal_B clusters proves LSTM encodes and maintains goal identity throughout episodes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Results: Spatial Belief Representation</a:t>
            </a:r>
            <a:endParaRPr lang="en-US" sz="3600" dirty="0"/>
          </a:p>
        </p:txBody>
      </p:sp>
      <p:pic>
        <p:nvPicPr>
          <p:cNvPr id="4" name="Image 0" descr="/mnt/user-data/uploads/4_belief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Analysis: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Hidden state activations show goal-specific spatial representations — obstacles encoded with goal-awareness in LSTM memory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Literature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Foundational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Deep Q-Network (DQN)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</a:rPr>
              <a:t>Mnih et al., 2015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Human-level control through deep RL on Atari games — established value-based deep RL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Deep Recurrent Q-Network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377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</a:rPr>
              <a:t>Hausknecht &amp; Stone, 2015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Added LSTM to DQN for handling partial observability in Atari with flickering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Modern Advances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30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R2D2 (Recurrent Experience Replay)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7307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Kapturowski et al., 2019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Stored/replayed sequences + burn-in for stable recurrent training in DQN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4165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Dreamer (World Models)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44165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Hafner et al., 2020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Latent dynamics model with auxiliary prediction tasks for belief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20574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5F5"/>
                </a:solidFill>
              </a:rPr>
              <a:t>DRQN with auxiliary hint loss achieves 92.5% success vs DQN's 41% on two-goal memory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606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5F5"/>
                </a:solidFill>
              </a:rPr>
              <a:t>LSTM successfully encodes and maintains goal identity from one-time step-0 hint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1546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5F5"/>
                </a:solidFill>
              </a:rPr>
              <a:t>PCA visualization confirms clean goal-type separation in hidden state space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7033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5F5"/>
                </a:solidFill>
              </a:rPr>
              <a:t>Auxiliary prediction tasks provide critical gradient signal for memory 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389120"/>
            <a:ext cx="6400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Future Directions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</a:rPr>
              <a:t>Transformer architectures • Multi-task learning • Real-world robotics applications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934</Words>
  <Application>Microsoft Office PowerPoint</Application>
  <PresentationFormat>On-screen Show (16:9)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Recurrent Q-Network for Memory-Based Navigation</dc:title>
  <dc:subject>PptxGenJS Presentation</dc:subject>
  <dc:creator>Research Team</dc:creator>
  <cp:lastModifiedBy>Tharun L</cp:lastModifiedBy>
  <cp:revision>2</cp:revision>
  <dcterms:created xsi:type="dcterms:W3CDTF">2026-04-14T17:46:14Z</dcterms:created>
  <dcterms:modified xsi:type="dcterms:W3CDTF">2026-04-14T18:05:31Z</dcterms:modified>
</cp:coreProperties>
</file>